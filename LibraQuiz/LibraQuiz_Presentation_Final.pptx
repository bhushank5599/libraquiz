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 am going to present our project, LibraQuiz. It is an integrated academic platform designed for schools and colleges that connects physical library book management with a modern online examination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traditional setups, library management and student testing are isolated. Teachers spend hours manually preparing tests and grading papers. LibraQuiz solves this by providing a single platform where teachers can auto-generate online exams in seconds, and students get instant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uses a microservices architecture. The React frontend talks to backend Java Spring Boot services via REST APIs. Each service—like authentication, library books, and quiz management—runs independently with its own MySQL database for scalability.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technology stack. For the user interface, we used React 18 with Redux Toolkit for state management. On the backend, we used Java 17 with Spring Boot 3 and Hibernate. Data is stored in MySQL databases, and requests are secured with JWT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Teacher Portal. Teachers can select from a 100-question repository. When building a quiz, the teacher chooses the topic, difficulty, duration, and pass mark. The system automatically picks random questions, and teachers can only manage their own quizzes.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students, the exam portal features a live test room with a countdown timer. Once submitted, the system evaluates their score immediately. If a student retakes an exam, they receive the exact same locked set of questions for fairness, and retakes lock once attempt limits are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privacy are very important in LibraQuiz. Student test results are strictly private, so students cannot see each other's grades. Role-based security keeps students out of teacher tools, and updating a quiz automatically resets old attempt histories.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LibraQuiz makes exam creation effortless for teachers and gives students a fast, timer-enforced online test portal with instant feedback. Thank you for your time! I'm now ready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1280160"/>
            <a:ext cx="7680960" cy="274320"/>
          </a:xfrm>
          <a:prstGeom prst="rect">
            <a:avLst/>
          </a:prstGeom>
          <a:noFill/>
          <a:ln/>
        </p:spPr>
        <p:txBody>
          <a:bodyPr wrap="square" rtlCol="0" anchor="ctr"/>
          <a:lstStyle/>
          <a:p>
            <a:pPr indent="0" marL="0">
              <a:buNone/>
            </a:pPr>
            <a:r>
              <a:rPr lang="en-US" sz="1100" b="1" dirty="0">
                <a:solidFill>
                  <a:srgbClr val="4F46E5"/>
                </a:solidFill>
                <a:latin typeface="Arial" pitchFamily="34" charset="0"/>
                <a:ea typeface="Arial" pitchFamily="34" charset="-122"/>
                <a:cs typeface="Arial" pitchFamily="34" charset="-120"/>
              </a:rPr>
              <a:t>ACADEMIC &amp; EXAMINATION PLATFORM</a:t>
            </a:r>
            <a:endParaRPr lang="en-US" sz="1100" dirty="0"/>
          </a:p>
        </p:txBody>
      </p:sp>
      <p:sp>
        <p:nvSpPr>
          <p:cNvPr id="3" name="Text 1"/>
          <p:cNvSpPr/>
          <p:nvPr/>
        </p:nvSpPr>
        <p:spPr>
          <a:xfrm>
            <a:off x="731520" y="1645920"/>
            <a:ext cx="7680960" cy="822960"/>
          </a:xfrm>
          <a:prstGeom prst="rect">
            <a:avLst/>
          </a:prstGeom>
          <a:noFill/>
          <a:ln/>
        </p:spPr>
        <p:txBody>
          <a:bodyPr wrap="square" rtlCol="0" anchor="ctr"/>
          <a:lstStyle/>
          <a:p>
            <a:pPr indent="0" marL="0">
              <a:buNone/>
            </a:pPr>
            <a:r>
              <a:rPr lang="en-US" sz="4400" b="1" dirty="0">
                <a:solidFill>
                  <a:srgbClr val="0F172A"/>
                </a:solidFill>
                <a:latin typeface="Arial" pitchFamily="34" charset="0"/>
                <a:ea typeface="Arial" pitchFamily="34" charset="-122"/>
                <a:cs typeface="Arial" pitchFamily="34" charset="-120"/>
              </a:rPr>
              <a:t>LibraQuiz</a:t>
            </a:r>
            <a:endParaRPr lang="en-US" sz="4400" dirty="0"/>
          </a:p>
        </p:txBody>
      </p:sp>
      <p:sp>
        <p:nvSpPr>
          <p:cNvPr id="4" name="Text 2"/>
          <p:cNvSpPr/>
          <p:nvPr/>
        </p:nvSpPr>
        <p:spPr>
          <a:xfrm>
            <a:off x="731520" y="2651760"/>
            <a:ext cx="7680960" cy="822960"/>
          </a:xfrm>
          <a:prstGeom prst="rect">
            <a:avLst/>
          </a:prstGeom>
          <a:noFill/>
          <a:ln/>
        </p:spPr>
        <p:txBody>
          <a:bodyPr wrap="square" rtlCol="0" anchor="ctr"/>
          <a:lstStyle/>
          <a:p>
            <a:pPr indent="0" marL="0">
              <a:buNone/>
            </a:pPr>
            <a:r>
              <a:rPr lang="en-US" sz="1600" dirty="0">
                <a:solidFill>
                  <a:srgbClr val="475569"/>
                </a:solidFill>
                <a:latin typeface="Arial" pitchFamily="34" charset="0"/>
                <a:ea typeface="Arial" pitchFamily="34" charset="-122"/>
                <a:cs typeface="Arial" pitchFamily="34" charset="-120"/>
              </a:rPr>
              <a:t>An integrated solution connecting physical library book records with automated online examination management.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8046720" cy="274320"/>
          </a:xfrm>
          <a:prstGeom prst="rect">
            <a:avLst/>
          </a:prstGeom>
          <a:noFill/>
          <a:ln/>
        </p:spPr>
        <p:txBody>
          <a:bodyPr wrap="square" rtlCol="0" anchor="ctr"/>
          <a:lstStyle/>
          <a:p>
            <a:pPr indent="0" marL="0">
              <a:buNone/>
            </a:pPr>
            <a:r>
              <a:rPr lang="en-US" sz="1000" b="1" dirty="0">
                <a:solidFill>
                  <a:srgbClr val="4F46E5"/>
                </a:solidFill>
                <a:latin typeface="Arial" pitchFamily="34" charset="0"/>
                <a:ea typeface="Arial" pitchFamily="34" charset="-122"/>
                <a:cs typeface="Arial" pitchFamily="34" charset="-120"/>
              </a:rPr>
              <a:t>SLIDE 02 // OVERVIEW</a:t>
            </a:r>
            <a:endParaRPr lang="en-US" sz="1000" dirty="0"/>
          </a:p>
        </p:txBody>
      </p:sp>
      <p:sp>
        <p:nvSpPr>
          <p:cNvPr id="3" name="Text 1"/>
          <p:cNvSpPr/>
          <p:nvPr/>
        </p:nvSpPr>
        <p:spPr>
          <a:xfrm>
            <a:off x="548640" y="640080"/>
            <a:ext cx="804672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Problem Statement &amp; Our Solution</a:t>
            </a:r>
            <a:endParaRPr lang="en-US" sz="2200" dirty="0"/>
          </a:p>
        </p:txBody>
      </p:sp>
      <p:sp>
        <p:nvSpPr>
          <p:cNvPr id="4" name="Shape 2"/>
          <p:cNvSpPr/>
          <p:nvPr/>
        </p:nvSpPr>
        <p:spPr>
          <a:xfrm>
            <a:off x="548640" y="1188720"/>
            <a:ext cx="3840480" cy="3474720"/>
          </a:xfrm>
          <a:prstGeom prst="rect">
            <a:avLst/>
          </a:prstGeom>
          <a:solidFill>
            <a:srgbClr val="FFFFFF"/>
          </a:solidFill>
          <a:ln w="19050">
            <a:solidFill>
              <a:srgbClr val="DC2626"/>
            </a:solidFill>
            <a:prstDash val="solid"/>
          </a:ln>
        </p:spPr>
      </p:sp>
      <p:sp>
        <p:nvSpPr>
          <p:cNvPr id="5" name="Text 3"/>
          <p:cNvSpPr/>
          <p:nvPr/>
        </p:nvSpPr>
        <p:spPr>
          <a:xfrm>
            <a:off x="731520" y="1371600"/>
            <a:ext cx="3474720" cy="365760"/>
          </a:xfrm>
          <a:prstGeom prst="rect">
            <a:avLst/>
          </a:prstGeom>
          <a:noFill/>
          <a:ln/>
        </p:spPr>
        <p:txBody>
          <a:bodyPr wrap="square" rtlCol="0" anchor="ctr"/>
          <a:lstStyle/>
          <a:p>
            <a:pPr indent="0" marL="0">
              <a:buNone/>
            </a:pPr>
            <a:r>
              <a:rPr lang="en-US" sz="1500" b="1" dirty="0">
                <a:solidFill>
                  <a:srgbClr val="DC2626"/>
                </a:solidFill>
                <a:latin typeface="Arial" pitchFamily="34" charset="0"/>
                <a:ea typeface="Arial" pitchFamily="34" charset="-122"/>
                <a:cs typeface="Arial" pitchFamily="34" charset="-120"/>
              </a:rPr>
              <a:t>Traditional System Pain Points</a:t>
            </a:r>
            <a:endParaRPr lang="en-US" sz="1500" dirty="0"/>
          </a:p>
        </p:txBody>
      </p:sp>
      <p:sp>
        <p:nvSpPr>
          <p:cNvPr id="6" name="Text 4"/>
          <p:cNvSpPr/>
          <p:nvPr/>
        </p:nvSpPr>
        <p:spPr>
          <a:xfrm>
            <a:off x="731520" y="1828800"/>
            <a:ext cx="3474720" cy="2651760"/>
          </a:xfrm>
          <a:prstGeom prst="rect">
            <a:avLst/>
          </a:prstGeom>
          <a:noFill/>
          <a:ln/>
        </p:spPr>
        <p:txBody>
          <a:bodyPr wrap="square" rtlCol="0" anchor="ctr"/>
          <a:lstStyle/>
          <a:p>
            <a:pPr indent="0" marL="0">
              <a:buNone/>
            </a:pPr>
            <a:r>
              <a:rPr lang="en-US" sz="1200" dirty="0">
                <a:solidFill>
                  <a:srgbClr val="475569"/>
                </a:solidFill>
              </a:rPr>
              <a:t>• Disconnected physical library book tracking
</a:t>
            </a:r>
            <a:pPr indent="0" marL="0">
              <a:buNone/>
            </a:pPr>
            <a:r>
              <a:rPr lang="en-US" sz="1200" dirty="0">
                <a:solidFill>
                  <a:srgbClr val="475569"/>
                </a:solidFill>
              </a:rPr>
              <a:t>• Manual paper-based exam question assembly
</a:t>
            </a:r>
            <a:pPr indent="0" marL="0">
              <a:buNone/>
            </a:pPr>
            <a:r>
              <a:rPr lang="en-US" sz="1200" dirty="0">
                <a:solidFill>
                  <a:srgbClr val="475569"/>
                </a:solidFill>
              </a:rPr>
              <a:t>• Slow evaluation cycles &amp; grading delays
</a:t>
            </a:r>
            <a:pPr indent="0" marL="0">
              <a:buNone/>
            </a:pPr>
            <a:r>
              <a:rPr lang="en-US" sz="1200" dirty="0">
                <a:solidFill>
                  <a:srgbClr val="475569"/>
                </a:solidFill>
              </a:rPr>
              <a:t>• Hard to enforce retake limits &amp; exam fairness</a:t>
            </a:r>
            <a:endParaRPr lang="en-US" sz="1200" dirty="0"/>
          </a:p>
        </p:txBody>
      </p:sp>
      <p:sp>
        <p:nvSpPr>
          <p:cNvPr id="7" name="Shape 5"/>
          <p:cNvSpPr/>
          <p:nvPr/>
        </p:nvSpPr>
        <p:spPr>
          <a:xfrm>
            <a:off x="4754880" y="1188720"/>
            <a:ext cx="3840480" cy="3474720"/>
          </a:xfrm>
          <a:prstGeom prst="rect">
            <a:avLst/>
          </a:prstGeom>
          <a:solidFill>
            <a:srgbClr val="FFFFFF"/>
          </a:solidFill>
          <a:ln w="19050">
            <a:solidFill>
              <a:srgbClr val="4F46E5"/>
            </a:solidFill>
            <a:prstDash val="solid"/>
          </a:ln>
        </p:spPr>
      </p:sp>
      <p:sp>
        <p:nvSpPr>
          <p:cNvPr id="8" name="Text 6"/>
          <p:cNvSpPr/>
          <p:nvPr/>
        </p:nvSpPr>
        <p:spPr>
          <a:xfrm>
            <a:off x="4937760" y="1371600"/>
            <a:ext cx="3474720" cy="365760"/>
          </a:xfrm>
          <a:prstGeom prst="rect">
            <a:avLst/>
          </a:prstGeom>
          <a:noFill/>
          <a:ln/>
        </p:spPr>
        <p:txBody>
          <a:bodyPr wrap="square" rtlCol="0" anchor="ctr"/>
          <a:lstStyle/>
          <a:p>
            <a:pPr indent="0" marL="0">
              <a:buNone/>
            </a:pPr>
            <a:r>
              <a:rPr lang="en-US" sz="1500" b="1" dirty="0">
                <a:solidFill>
                  <a:srgbClr val="4F46E5"/>
                </a:solidFill>
                <a:latin typeface="Arial" pitchFamily="34" charset="0"/>
                <a:ea typeface="Arial" pitchFamily="34" charset="-122"/>
                <a:cs typeface="Arial" pitchFamily="34" charset="-120"/>
              </a:rPr>
              <a:t>The LibraQuiz Solution</a:t>
            </a:r>
            <a:endParaRPr lang="en-US" sz="1500" dirty="0"/>
          </a:p>
        </p:txBody>
      </p:sp>
      <p:sp>
        <p:nvSpPr>
          <p:cNvPr id="9" name="Text 7"/>
          <p:cNvSpPr/>
          <p:nvPr/>
        </p:nvSpPr>
        <p:spPr>
          <a:xfrm>
            <a:off x="4937760" y="1828800"/>
            <a:ext cx="3474720" cy="2651760"/>
          </a:xfrm>
          <a:prstGeom prst="rect">
            <a:avLst/>
          </a:prstGeom>
          <a:noFill/>
          <a:ln/>
        </p:spPr>
        <p:txBody>
          <a:bodyPr wrap="square" rtlCol="0" anchor="ctr"/>
          <a:lstStyle/>
          <a:p>
            <a:pPr indent="0" marL="0">
              <a:buNone/>
            </a:pPr>
            <a:r>
              <a:rPr lang="en-US" sz="1200" dirty="0">
                <a:solidFill>
                  <a:srgbClr val="0F172A"/>
                </a:solidFill>
              </a:rPr>
              <a:t>• Unified library cataloging &amp; online exam portal
</a:t>
            </a:r>
            <a:pPr indent="0" marL="0">
              <a:buNone/>
            </a:pPr>
            <a:r>
              <a:rPr lang="en-US" sz="1200" dirty="0">
                <a:solidFill>
                  <a:srgbClr val="0F172A"/>
                </a:solidFill>
              </a:rPr>
              <a:t>• Automated Fisher-Yates random question sampling
</a:t>
            </a:r>
            <a:pPr indent="0" marL="0">
              <a:buNone/>
            </a:pPr>
            <a:r>
              <a:rPr lang="en-US" sz="1200" dirty="0">
                <a:solidFill>
                  <a:srgbClr val="0F172A"/>
                </a:solidFill>
              </a:rPr>
              <a:t>• Instant timer-enforced grading &amp; result badges
</a:t>
            </a:r>
            <a:pPr indent="0" marL="0">
              <a:buNone/>
            </a:pPr>
            <a:r>
              <a:rPr lang="en-US" sz="1200" dirty="0">
                <a:solidFill>
                  <a:srgbClr val="0F172A"/>
                </a:solidFill>
              </a:rPr>
              <a:t>• Strict multi-tenant data privacy &amp; retake locking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8046720" cy="274320"/>
          </a:xfrm>
          <a:prstGeom prst="rect">
            <a:avLst/>
          </a:prstGeom>
          <a:noFill/>
          <a:ln/>
        </p:spPr>
        <p:txBody>
          <a:bodyPr wrap="square" rtlCol="0" anchor="ctr"/>
          <a:lstStyle/>
          <a:p>
            <a:pPr indent="0" marL="0">
              <a:buNone/>
            </a:pPr>
            <a:r>
              <a:rPr lang="en-US" sz="1000" b="1" dirty="0">
                <a:solidFill>
                  <a:srgbClr val="4F46E5"/>
                </a:solidFill>
                <a:latin typeface="Arial" pitchFamily="34" charset="0"/>
                <a:ea typeface="Arial" pitchFamily="34" charset="-122"/>
                <a:cs typeface="Arial" pitchFamily="34" charset="-120"/>
              </a:rPr>
              <a:t>SLIDE 03 // OVERVIEW</a:t>
            </a:r>
            <a:endParaRPr lang="en-US" sz="1000" dirty="0"/>
          </a:p>
        </p:txBody>
      </p:sp>
      <p:sp>
        <p:nvSpPr>
          <p:cNvPr id="3" name="Text 1"/>
          <p:cNvSpPr/>
          <p:nvPr/>
        </p:nvSpPr>
        <p:spPr>
          <a:xfrm>
            <a:off x="548640" y="640080"/>
            <a:ext cx="804672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Decoupled Microservices Architecture</a:t>
            </a:r>
            <a:endParaRPr lang="en-US" sz="2200" dirty="0"/>
          </a:p>
        </p:txBody>
      </p:sp>
      <p:sp>
        <p:nvSpPr>
          <p:cNvPr id="4" name="Shape 2"/>
          <p:cNvSpPr/>
          <p:nvPr/>
        </p:nvSpPr>
        <p:spPr>
          <a:xfrm>
            <a:off x="548640" y="1188720"/>
            <a:ext cx="3840480" cy="1645920"/>
          </a:xfrm>
          <a:prstGeom prst="rect">
            <a:avLst/>
          </a:prstGeom>
          <a:solidFill>
            <a:srgbClr val="FFFFFF"/>
          </a:solidFill>
          <a:ln w="12700">
            <a:solidFill>
              <a:srgbClr val="CBD5E1"/>
            </a:solidFill>
            <a:prstDash val="solid"/>
          </a:ln>
        </p:spPr>
      </p:sp>
      <p:sp>
        <p:nvSpPr>
          <p:cNvPr id="5" name="Text 3"/>
          <p:cNvSpPr/>
          <p:nvPr/>
        </p:nvSpPr>
        <p:spPr>
          <a:xfrm>
            <a:off x="731520" y="1371600"/>
            <a:ext cx="3474720" cy="32004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Frontend UI Layer</a:t>
            </a:r>
            <a:endParaRPr lang="en-US" sz="1400" dirty="0"/>
          </a:p>
        </p:txBody>
      </p:sp>
      <p:sp>
        <p:nvSpPr>
          <p:cNvPr id="6" name="Text 4"/>
          <p:cNvSpPr/>
          <p:nvPr/>
        </p:nvSpPr>
        <p:spPr>
          <a:xfrm>
            <a:off x="731520" y="1737360"/>
            <a:ext cx="3474720" cy="9144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React 18 SPA communicating with backend microservices via REST APIs using JSON payloads.</a:t>
            </a:r>
            <a:endParaRPr lang="en-US" sz="1100" dirty="0"/>
          </a:p>
        </p:txBody>
      </p:sp>
      <p:sp>
        <p:nvSpPr>
          <p:cNvPr id="7" name="Shape 5"/>
          <p:cNvSpPr/>
          <p:nvPr/>
        </p:nvSpPr>
        <p:spPr>
          <a:xfrm>
            <a:off x="4754880" y="1188720"/>
            <a:ext cx="3840480" cy="1645920"/>
          </a:xfrm>
          <a:prstGeom prst="rect">
            <a:avLst/>
          </a:prstGeom>
          <a:solidFill>
            <a:srgbClr val="FFFFFF"/>
          </a:solidFill>
          <a:ln w="12700">
            <a:solidFill>
              <a:srgbClr val="CBD5E1"/>
            </a:solidFill>
            <a:prstDash val="solid"/>
          </a:ln>
        </p:spPr>
      </p:sp>
      <p:sp>
        <p:nvSpPr>
          <p:cNvPr id="8" name="Text 6"/>
          <p:cNvSpPr/>
          <p:nvPr/>
        </p:nvSpPr>
        <p:spPr>
          <a:xfrm>
            <a:off x="4937760" y="1371600"/>
            <a:ext cx="3474720" cy="32004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Backend Microservices</a:t>
            </a:r>
            <a:endParaRPr lang="en-US" sz="1400" dirty="0"/>
          </a:p>
        </p:txBody>
      </p:sp>
      <p:sp>
        <p:nvSpPr>
          <p:cNvPr id="9" name="Text 7"/>
          <p:cNvSpPr/>
          <p:nvPr/>
        </p:nvSpPr>
        <p:spPr>
          <a:xfrm>
            <a:off x="4937760" y="1737360"/>
            <a:ext cx="3474720" cy="9144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Autonomous Java Spring Boot microservices for Identity, Book Cataloging, Question Bank, and Quizzes.</a:t>
            </a:r>
            <a:endParaRPr lang="en-US" sz="1100" dirty="0"/>
          </a:p>
        </p:txBody>
      </p:sp>
      <p:sp>
        <p:nvSpPr>
          <p:cNvPr id="10" name="Shape 8"/>
          <p:cNvSpPr/>
          <p:nvPr/>
        </p:nvSpPr>
        <p:spPr>
          <a:xfrm>
            <a:off x="548640" y="3017520"/>
            <a:ext cx="3840480" cy="1645920"/>
          </a:xfrm>
          <a:prstGeom prst="rect">
            <a:avLst/>
          </a:prstGeom>
          <a:solidFill>
            <a:srgbClr val="FFFFFF"/>
          </a:solidFill>
          <a:ln w="12700">
            <a:solidFill>
              <a:srgbClr val="CBD5E1"/>
            </a:solidFill>
            <a:prstDash val="solid"/>
          </a:ln>
        </p:spPr>
      </p:sp>
      <p:sp>
        <p:nvSpPr>
          <p:cNvPr id="11" name="Text 9"/>
          <p:cNvSpPr/>
          <p:nvPr/>
        </p:nvSpPr>
        <p:spPr>
          <a:xfrm>
            <a:off x="731520" y="3200400"/>
            <a:ext cx="3474720" cy="32004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Database Storage</a:t>
            </a:r>
            <a:endParaRPr lang="en-US" sz="1400" dirty="0"/>
          </a:p>
        </p:txBody>
      </p:sp>
      <p:sp>
        <p:nvSpPr>
          <p:cNvPr id="12" name="Text 10"/>
          <p:cNvSpPr/>
          <p:nvPr/>
        </p:nvSpPr>
        <p:spPr>
          <a:xfrm>
            <a:off x="731520" y="3566160"/>
            <a:ext cx="3474720" cy="9144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Separate MySQL database schemas for each service, ensuring high data isolation and reliability.</a:t>
            </a:r>
            <a:endParaRPr lang="en-US" sz="1100" dirty="0"/>
          </a:p>
        </p:txBody>
      </p:sp>
      <p:sp>
        <p:nvSpPr>
          <p:cNvPr id="13" name="Shape 11"/>
          <p:cNvSpPr/>
          <p:nvPr/>
        </p:nvSpPr>
        <p:spPr>
          <a:xfrm>
            <a:off x="4754880" y="3017520"/>
            <a:ext cx="3840480" cy="1645920"/>
          </a:xfrm>
          <a:prstGeom prst="rect">
            <a:avLst/>
          </a:prstGeom>
          <a:solidFill>
            <a:srgbClr val="FFFFFF"/>
          </a:solidFill>
          <a:ln w="12700">
            <a:solidFill>
              <a:srgbClr val="CBD5E1"/>
            </a:solidFill>
            <a:prstDash val="solid"/>
          </a:ln>
        </p:spPr>
      </p:sp>
      <p:sp>
        <p:nvSpPr>
          <p:cNvPr id="14" name="Text 12"/>
          <p:cNvSpPr/>
          <p:nvPr/>
        </p:nvSpPr>
        <p:spPr>
          <a:xfrm>
            <a:off x="4937760" y="3200400"/>
            <a:ext cx="3474720" cy="32004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Security &amp; REST</a:t>
            </a:r>
            <a:endParaRPr lang="en-US" sz="1400" dirty="0"/>
          </a:p>
        </p:txBody>
      </p:sp>
      <p:sp>
        <p:nvSpPr>
          <p:cNvPr id="15" name="Text 13"/>
          <p:cNvSpPr/>
          <p:nvPr/>
        </p:nvSpPr>
        <p:spPr>
          <a:xfrm>
            <a:off x="4937760" y="3566160"/>
            <a:ext cx="3474720" cy="9144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Spring Security issues JWT tokens on login, which Axios automatically attaches to all API requests.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8046720" cy="274320"/>
          </a:xfrm>
          <a:prstGeom prst="rect">
            <a:avLst/>
          </a:prstGeom>
          <a:noFill/>
          <a:ln/>
        </p:spPr>
        <p:txBody>
          <a:bodyPr wrap="square" rtlCol="0" anchor="ctr"/>
          <a:lstStyle/>
          <a:p>
            <a:pPr indent="0" marL="0">
              <a:buNone/>
            </a:pPr>
            <a:r>
              <a:rPr lang="en-US" sz="1000" b="1" dirty="0">
                <a:solidFill>
                  <a:srgbClr val="4F46E5"/>
                </a:solidFill>
                <a:latin typeface="Arial" pitchFamily="34" charset="0"/>
                <a:ea typeface="Arial" pitchFamily="34" charset="-122"/>
                <a:cs typeface="Arial" pitchFamily="34" charset="-120"/>
              </a:rPr>
              <a:t>SLIDE 04 // OVERVIEW</a:t>
            </a:r>
            <a:endParaRPr lang="en-US" sz="1000" dirty="0"/>
          </a:p>
        </p:txBody>
      </p:sp>
      <p:sp>
        <p:nvSpPr>
          <p:cNvPr id="3" name="Text 1"/>
          <p:cNvSpPr/>
          <p:nvPr/>
        </p:nvSpPr>
        <p:spPr>
          <a:xfrm>
            <a:off x="548640" y="640080"/>
            <a:ext cx="804672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Technologies Used</a:t>
            </a:r>
            <a:endParaRPr lang="en-US" sz="2200" dirty="0"/>
          </a:p>
        </p:txBody>
      </p:sp>
      <p:sp>
        <p:nvSpPr>
          <p:cNvPr id="4" name="Shape 2"/>
          <p:cNvSpPr/>
          <p:nvPr/>
        </p:nvSpPr>
        <p:spPr>
          <a:xfrm>
            <a:off x="548640" y="1188720"/>
            <a:ext cx="3840480" cy="3474720"/>
          </a:xfrm>
          <a:prstGeom prst="rect">
            <a:avLst/>
          </a:prstGeom>
          <a:solidFill>
            <a:srgbClr val="FFFFFF"/>
          </a:solidFill>
          <a:ln w="12700">
            <a:solidFill>
              <a:srgbClr val="CBD5E1"/>
            </a:solidFill>
            <a:prstDash val="solid"/>
          </a:ln>
        </p:spPr>
      </p:sp>
      <p:sp>
        <p:nvSpPr>
          <p:cNvPr id="5" name="Text 3"/>
          <p:cNvSpPr/>
          <p:nvPr/>
        </p:nvSpPr>
        <p:spPr>
          <a:xfrm>
            <a:off x="731520" y="1371600"/>
            <a:ext cx="3474720" cy="365760"/>
          </a:xfrm>
          <a:prstGeom prst="rect">
            <a:avLst/>
          </a:prstGeom>
          <a:noFill/>
          <a:ln/>
        </p:spPr>
        <p:txBody>
          <a:bodyPr wrap="square" rtlCol="0" anchor="ctr"/>
          <a:lstStyle/>
          <a:p>
            <a:pPr indent="0" marL="0">
              <a:buNone/>
            </a:pPr>
            <a:r>
              <a:rPr lang="en-US" sz="1500" b="1" dirty="0">
                <a:solidFill>
                  <a:srgbClr val="4F46E5"/>
                </a:solidFill>
                <a:latin typeface="Arial" pitchFamily="34" charset="0"/>
                <a:ea typeface="Arial" pitchFamily="34" charset="-122"/>
                <a:cs typeface="Arial" pitchFamily="34" charset="-120"/>
              </a:rPr>
              <a:t>Frontend Stack</a:t>
            </a:r>
            <a:endParaRPr lang="en-US" sz="1500" dirty="0"/>
          </a:p>
        </p:txBody>
      </p:sp>
      <p:sp>
        <p:nvSpPr>
          <p:cNvPr id="6" name="Text 4"/>
          <p:cNvSpPr/>
          <p:nvPr/>
        </p:nvSpPr>
        <p:spPr>
          <a:xfrm>
            <a:off x="731520" y="1828800"/>
            <a:ext cx="3474720" cy="2651760"/>
          </a:xfrm>
          <a:prstGeom prst="rect">
            <a:avLst/>
          </a:prstGeom>
          <a:noFill/>
          <a:ln/>
        </p:spPr>
        <p:txBody>
          <a:bodyPr wrap="square" rtlCol="0" anchor="ctr"/>
          <a:lstStyle/>
          <a:p>
            <a:pPr indent="0" marL="0">
              <a:buNone/>
            </a:pPr>
            <a:r>
              <a:rPr lang="en-US" sz="1200" dirty="0">
                <a:solidFill>
                  <a:srgbClr val="0F172A"/>
                </a:solidFill>
              </a:rPr>
              <a:t>• React 18 with Vite build system
</a:t>
            </a:r>
            <a:pPr indent="0" marL="0">
              <a:buNone/>
            </a:pPr>
            <a:r>
              <a:rPr lang="en-US" sz="1200" dirty="0">
                <a:solidFill>
                  <a:srgbClr val="0F172A"/>
                </a:solidFill>
              </a:rPr>
              <a:t>• Redux Toolkit for state management
</a:t>
            </a:r>
            <a:pPr indent="0" marL="0">
              <a:buNone/>
            </a:pPr>
            <a:r>
              <a:rPr lang="en-US" sz="1200" dirty="0">
                <a:solidFill>
                  <a:srgbClr val="0F172A"/>
                </a:solidFill>
              </a:rPr>
              <a:t>• Custom Vanilla CSS responsive design
</a:t>
            </a:r>
            <a:pPr indent="0" marL="0">
              <a:buNone/>
            </a:pPr>
            <a:r>
              <a:rPr lang="en-US" sz="1200" dirty="0">
                <a:solidFill>
                  <a:srgbClr val="0F172A"/>
                </a:solidFill>
              </a:rPr>
              <a:t>• Axios client with automatic Bearer JWT header injection</a:t>
            </a:r>
            <a:endParaRPr lang="en-US" sz="1200" dirty="0"/>
          </a:p>
        </p:txBody>
      </p:sp>
      <p:sp>
        <p:nvSpPr>
          <p:cNvPr id="7" name="Shape 5"/>
          <p:cNvSpPr/>
          <p:nvPr/>
        </p:nvSpPr>
        <p:spPr>
          <a:xfrm>
            <a:off x="4754880" y="1188720"/>
            <a:ext cx="3840480" cy="3474720"/>
          </a:xfrm>
          <a:prstGeom prst="rect">
            <a:avLst/>
          </a:prstGeom>
          <a:solidFill>
            <a:srgbClr val="FFFFFF"/>
          </a:solidFill>
          <a:ln w="12700">
            <a:solidFill>
              <a:srgbClr val="CBD5E1"/>
            </a:solidFill>
            <a:prstDash val="solid"/>
          </a:ln>
        </p:spPr>
      </p:sp>
      <p:sp>
        <p:nvSpPr>
          <p:cNvPr id="8" name="Text 6"/>
          <p:cNvSpPr/>
          <p:nvPr/>
        </p:nvSpPr>
        <p:spPr>
          <a:xfrm>
            <a:off x="4937760" y="1371600"/>
            <a:ext cx="3474720" cy="365760"/>
          </a:xfrm>
          <a:prstGeom prst="rect">
            <a:avLst/>
          </a:prstGeom>
          <a:noFill/>
          <a:ln/>
        </p:spPr>
        <p:txBody>
          <a:bodyPr wrap="square" rtlCol="0" anchor="ctr"/>
          <a:lstStyle/>
          <a:p>
            <a:pPr indent="0" marL="0">
              <a:buNone/>
            </a:pPr>
            <a:r>
              <a:rPr lang="en-US" sz="1500" b="1" dirty="0">
                <a:solidFill>
                  <a:srgbClr val="4F46E5"/>
                </a:solidFill>
                <a:latin typeface="Arial" pitchFamily="34" charset="0"/>
                <a:ea typeface="Arial" pitchFamily="34" charset="-122"/>
                <a:cs typeface="Arial" pitchFamily="34" charset="-120"/>
              </a:rPr>
              <a:t>Backend &amp; Database</a:t>
            </a:r>
            <a:endParaRPr lang="en-US" sz="1500" dirty="0"/>
          </a:p>
        </p:txBody>
      </p:sp>
      <p:sp>
        <p:nvSpPr>
          <p:cNvPr id="9" name="Text 7"/>
          <p:cNvSpPr/>
          <p:nvPr/>
        </p:nvSpPr>
        <p:spPr>
          <a:xfrm>
            <a:off x="4937760" y="1828800"/>
            <a:ext cx="3474720" cy="2651760"/>
          </a:xfrm>
          <a:prstGeom prst="rect">
            <a:avLst/>
          </a:prstGeom>
          <a:noFill/>
          <a:ln/>
        </p:spPr>
        <p:txBody>
          <a:bodyPr wrap="square" rtlCol="0" anchor="ctr"/>
          <a:lstStyle/>
          <a:p>
            <a:pPr indent="0" marL="0">
              <a:buNone/>
            </a:pPr>
            <a:r>
              <a:rPr lang="en-US" sz="1200" dirty="0">
                <a:solidFill>
                  <a:srgbClr val="0F172A"/>
                </a:solidFill>
              </a:rPr>
              <a:t>• Java 17 &amp; Spring Boot 3 Framework
</a:t>
            </a:r>
            <a:pPr indent="0" marL="0">
              <a:buNone/>
            </a:pPr>
            <a:r>
              <a:rPr lang="en-US" sz="1200" dirty="0">
                <a:solidFill>
                  <a:srgbClr val="0F172A"/>
                </a:solidFill>
              </a:rPr>
              <a:t>• Hibernate ORM &amp; Spring Data JPA
</a:t>
            </a:r>
            <a:pPr indent="0" marL="0">
              <a:buNone/>
            </a:pPr>
            <a:r>
              <a:rPr lang="en-US" sz="1200" dirty="0">
                <a:solidFill>
                  <a:srgbClr val="0F172A"/>
                </a:solidFill>
              </a:rPr>
              <a:t>• MySQL 8.0 relational database
</a:t>
            </a:r>
            <a:pPr indent="0" marL="0">
              <a:buNone/>
            </a:pPr>
            <a:r>
              <a:rPr lang="en-US" sz="1200" dirty="0">
                <a:solidFill>
                  <a:srgbClr val="0F172A"/>
                </a:solidFill>
              </a:rPr>
              <a:t>• Spring Security token generation &amp; authorization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8046720" cy="274320"/>
          </a:xfrm>
          <a:prstGeom prst="rect">
            <a:avLst/>
          </a:prstGeom>
          <a:noFill/>
          <a:ln/>
        </p:spPr>
        <p:txBody>
          <a:bodyPr wrap="square" rtlCol="0" anchor="ctr"/>
          <a:lstStyle/>
          <a:p>
            <a:pPr indent="0" marL="0">
              <a:buNone/>
            </a:pPr>
            <a:r>
              <a:rPr lang="en-US" sz="1000" b="1" dirty="0">
                <a:solidFill>
                  <a:srgbClr val="4F46E5"/>
                </a:solidFill>
                <a:latin typeface="Arial" pitchFamily="34" charset="0"/>
                <a:ea typeface="Arial" pitchFamily="34" charset="-122"/>
                <a:cs typeface="Arial" pitchFamily="34" charset="-120"/>
              </a:rPr>
              <a:t>SLIDE 05 // OVERVIEW</a:t>
            </a:r>
            <a:endParaRPr lang="en-US" sz="1000" dirty="0"/>
          </a:p>
        </p:txBody>
      </p:sp>
      <p:sp>
        <p:nvSpPr>
          <p:cNvPr id="3" name="Text 1"/>
          <p:cNvSpPr/>
          <p:nvPr/>
        </p:nvSpPr>
        <p:spPr>
          <a:xfrm>
            <a:off x="548640" y="640080"/>
            <a:ext cx="804672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Teacher Portal: Quiz Creation</a:t>
            </a:r>
            <a:endParaRPr lang="en-US" sz="2200" dirty="0"/>
          </a:p>
        </p:txBody>
      </p:sp>
      <p:sp>
        <p:nvSpPr>
          <p:cNvPr id="4" name="Shape 2"/>
          <p:cNvSpPr/>
          <p:nvPr/>
        </p:nvSpPr>
        <p:spPr>
          <a:xfrm>
            <a:off x="548640" y="1188720"/>
            <a:ext cx="3840480" cy="1645920"/>
          </a:xfrm>
          <a:prstGeom prst="rect">
            <a:avLst/>
          </a:prstGeom>
          <a:solidFill>
            <a:srgbClr val="FFFFFF"/>
          </a:solidFill>
          <a:ln w="12700">
            <a:solidFill>
              <a:srgbClr val="CBD5E1"/>
            </a:solidFill>
            <a:prstDash val="solid"/>
          </a:ln>
        </p:spPr>
      </p:sp>
      <p:sp>
        <p:nvSpPr>
          <p:cNvPr id="5" name="Text 3"/>
          <p:cNvSpPr/>
          <p:nvPr/>
        </p:nvSpPr>
        <p:spPr>
          <a:xfrm>
            <a:off x="731520" y="1371600"/>
            <a:ext cx="3474720" cy="32004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100+ Question Repository</a:t>
            </a:r>
            <a:endParaRPr lang="en-US" sz="1400" dirty="0"/>
          </a:p>
        </p:txBody>
      </p:sp>
      <p:sp>
        <p:nvSpPr>
          <p:cNvPr id="6" name="Text 4"/>
          <p:cNvSpPr/>
          <p:nvPr/>
        </p:nvSpPr>
        <p:spPr>
          <a:xfrm>
            <a:off x="731520" y="1737360"/>
            <a:ext cx="3474720" cy="9144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Pre-seeded questions across 5 CS topics: Java, .NET, DSA, Database, and OS.</a:t>
            </a:r>
            <a:endParaRPr lang="en-US" sz="1100" dirty="0"/>
          </a:p>
        </p:txBody>
      </p:sp>
      <p:sp>
        <p:nvSpPr>
          <p:cNvPr id="7" name="Shape 5"/>
          <p:cNvSpPr/>
          <p:nvPr/>
        </p:nvSpPr>
        <p:spPr>
          <a:xfrm>
            <a:off x="4754880" y="1188720"/>
            <a:ext cx="3840480" cy="1645920"/>
          </a:xfrm>
          <a:prstGeom prst="rect">
            <a:avLst/>
          </a:prstGeom>
          <a:solidFill>
            <a:srgbClr val="FFFFFF"/>
          </a:solidFill>
          <a:ln w="12700">
            <a:solidFill>
              <a:srgbClr val="CBD5E1"/>
            </a:solidFill>
            <a:prstDash val="solid"/>
          </a:ln>
        </p:spPr>
      </p:sp>
      <p:sp>
        <p:nvSpPr>
          <p:cNvPr id="8" name="Text 6"/>
          <p:cNvSpPr/>
          <p:nvPr/>
        </p:nvSpPr>
        <p:spPr>
          <a:xfrm>
            <a:off x="4937760" y="1371600"/>
            <a:ext cx="3474720" cy="32004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Automatic Question Selection</a:t>
            </a:r>
            <a:endParaRPr lang="en-US" sz="1400" dirty="0"/>
          </a:p>
        </p:txBody>
      </p:sp>
      <p:sp>
        <p:nvSpPr>
          <p:cNvPr id="9" name="Text 7"/>
          <p:cNvSpPr/>
          <p:nvPr/>
        </p:nvSpPr>
        <p:spPr>
          <a:xfrm>
            <a:off x="4937760" y="1737360"/>
            <a:ext cx="3474720" cy="9144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Uses Fisher-Yates algorithm to pick random questions based on topic and difficulty.</a:t>
            </a:r>
            <a:endParaRPr lang="en-US" sz="1100" dirty="0"/>
          </a:p>
        </p:txBody>
      </p:sp>
      <p:sp>
        <p:nvSpPr>
          <p:cNvPr id="10" name="Shape 8"/>
          <p:cNvSpPr/>
          <p:nvPr/>
        </p:nvSpPr>
        <p:spPr>
          <a:xfrm>
            <a:off x="548640" y="3017520"/>
            <a:ext cx="3840480" cy="1645920"/>
          </a:xfrm>
          <a:prstGeom prst="rect">
            <a:avLst/>
          </a:prstGeom>
          <a:solidFill>
            <a:srgbClr val="FFFFFF"/>
          </a:solidFill>
          <a:ln w="12700">
            <a:solidFill>
              <a:srgbClr val="CBD5E1"/>
            </a:solidFill>
            <a:prstDash val="solid"/>
          </a:ln>
        </p:spPr>
      </p:sp>
      <p:sp>
        <p:nvSpPr>
          <p:cNvPr id="11" name="Text 9"/>
          <p:cNvSpPr/>
          <p:nvPr/>
        </p:nvSpPr>
        <p:spPr>
          <a:xfrm>
            <a:off x="731520" y="3200400"/>
            <a:ext cx="3474720" cy="32004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Flexible Exam Settings</a:t>
            </a:r>
            <a:endParaRPr lang="en-US" sz="1400" dirty="0"/>
          </a:p>
        </p:txBody>
      </p:sp>
      <p:sp>
        <p:nvSpPr>
          <p:cNvPr id="12" name="Text 10"/>
          <p:cNvSpPr/>
          <p:nvPr/>
        </p:nvSpPr>
        <p:spPr>
          <a:xfrm>
            <a:off x="731520" y="3566160"/>
            <a:ext cx="3474720" cy="9144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Configure duration (15-60m), question limit (5-20), pass score (50-80%), and retakes (1-3).</a:t>
            </a:r>
            <a:endParaRPr lang="en-US" sz="1100" dirty="0"/>
          </a:p>
        </p:txBody>
      </p:sp>
      <p:sp>
        <p:nvSpPr>
          <p:cNvPr id="13" name="Shape 11"/>
          <p:cNvSpPr/>
          <p:nvPr/>
        </p:nvSpPr>
        <p:spPr>
          <a:xfrm>
            <a:off x="4754880" y="3017520"/>
            <a:ext cx="3840480" cy="1645920"/>
          </a:xfrm>
          <a:prstGeom prst="rect">
            <a:avLst/>
          </a:prstGeom>
          <a:solidFill>
            <a:srgbClr val="FFFFFF"/>
          </a:solidFill>
          <a:ln w="12700">
            <a:solidFill>
              <a:srgbClr val="CBD5E1"/>
            </a:solidFill>
            <a:prstDash val="solid"/>
          </a:ln>
        </p:spPr>
      </p:sp>
      <p:sp>
        <p:nvSpPr>
          <p:cNvPr id="14" name="Text 12"/>
          <p:cNvSpPr/>
          <p:nvPr/>
        </p:nvSpPr>
        <p:spPr>
          <a:xfrm>
            <a:off x="4937760" y="3200400"/>
            <a:ext cx="3474720" cy="32004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Teacher Privacy Isolation</a:t>
            </a:r>
            <a:endParaRPr lang="en-US" sz="1400" dirty="0"/>
          </a:p>
        </p:txBody>
      </p:sp>
      <p:sp>
        <p:nvSpPr>
          <p:cNvPr id="15" name="Text 13"/>
          <p:cNvSpPr/>
          <p:nvPr/>
        </p:nvSpPr>
        <p:spPr>
          <a:xfrm>
            <a:off x="4937760" y="3566160"/>
            <a:ext cx="3474720" cy="9144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Strict author scoping ensures each teacher can only view and edit their created quizzes.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8046720" cy="274320"/>
          </a:xfrm>
          <a:prstGeom prst="rect">
            <a:avLst/>
          </a:prstGeom>
          <a:noFill/>
          <a:ln/>
        </p:spPr>
        <p:txBody>
          <a:bodyPr wrap="square" rtlCol="0" anchor="ctr"/>
          <a:lstStyle/>
          <a:p>
            <a:pPr indent="0" marL="0">
              <a:buNone/>
            </a:pPr>
            <a:r>
              <a:rPr lang="en-US" sz="1000" b="1" dirty="0">
                <a:solidFill>
                  <a:srgbClr val="4F46E5"/>
                </a:solidFill>
                <a:latin typeface="Arial" pitchFamily="34" charset="0"/>
                <a:ea typeface="Arial" pitchFamily="34" charset="-122"/>
                <a:cs typeface="Arial" pitchFamily="34" charset="-120"/>
              </a:rPr>
              <a:t>SLIDE 06 // OVERVIEW</a:t>
            </a:r>
            <a:endParaRPr lang="en-US" sz="1000" dirty="0"/>
          </a:p>
        </p:txBody>
      </p:sp>
      <p:sp>
        <p:nvSpPr>
          <p:cNvPr id="3" name="Text 1"/>
          <p:cNvSpPr/>
          <p:nvPr/>
        </p:nvSpPr>
        <p:spPr>
          <a:xfrm>
            <a:off x="548640" y="640080"/>
            <a:ext cx="804672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Student Portal: Taking Exams</a:t>
            </a:r>
            <a:endParaRPr lang="en-US" sz="2200" dirty="0"/>
          </a:p>
        </p:txBody>
      </p:sp>
      <p:sp>
        <p:nvSpPr>
          <p:cNvPr id="4" name="Shape 2"/>
          <p:cNvSpPr/>
          <p:nvPr/>
        </p:nvSpPr>
        <p:spPr>
          <a:xfrm>
            <a:off x="548640" y="1188720"/>
            <a:ext cx="3840480" cy="3474720"/>
          </a:xfrm>
          <a:prstGeom prst="rect">
            <a:avLst/>
          </a:prstGeom>
          <a:solidFill>
            <a:srgbClr val="FFFFFF"/>
          </a:solidFill>
          <a:ln w="12700">
            <a:solidFill>
              <a:srgbClr val="CBD5E1"/>
            </a:solidFill>
            <a:prstDash val="solid"/>
          </a:ln>
        </p:spPr>
      </p:sp>
      <p:sp>
        <p:nvSpPr>
          <p:cNvPr id="5" name="Text 3"/>
          <p:cNvSpPr/>
          <p:nvPr/>
        </p:nvSpPr>
        <p:spPr>
          <a:xfrm>
            <a:off x="731520" y="1371600"/>
            <a:ext cx="3474720" cy="365760"/>
          </a:xfrm>
          <a:prstGeom prst="rect">
            <a:avLst/>
          </a:prstGeom>
          <a:noFill/>
          <a:ln/>
        </p:spPr>
        <p:txBody>
          <a:bodyPr wrap="square" rtlCol="0" anchor="ctr"/>
          <a:lstStyle/>
          <a:p>
            <a:pPr indent="0" marL="0">
              <a:buNone/>
            </a:pPr>
            <a:r>
              <a:rPr lang="en-US" sz="1500" b="1" dirty="0">
                <a:solidFill>
                  <a:srgbClr val="4F46E5"/>
                </a:solidFill>
                <a:latin typeface="Arial" pitchFamily="34" charset="0"/>
                <a:ea typeface="Arial" pitchFamily="34" charset="-122"/>
                <a:cs typeface="Arial" pitchFamily="34" charset="-120"/>
              </a:rPr>
              <a:t>Live Examination Room</a:t>
            </a:r>
            <a:endParaRPr lang="en-US" sz="1500" dirty="0"/>
          </a:p>
        </p:txBody>
      </p:sp>
      <p:sp>
        <p:nvSpPr>
          <p:cNvPr id="6" name="Text 4"/>
          <p:cNvSpPr/>
          <p:nvPr/>
        </p:nvSpPr>
        <p:spPr>
          <a:xfrm>
            <a:off x="731520" y="1828800"/>
            <a:ext cx="3474720" cy="2651760"/>
          </a:xfrm>
          <a:prstGeom prst="rect">
            <a:avLst/>
          </a:prstGeom>
          <a:noFill/>
          <a:ln/>
        </p:spPr>
        <p:txBody>
          <a:bodyPr wrap="square" rtlCol="0" anchor="ctr"/>
          <a:lstStyle/>
          <a:p>
            <a:pPr indent="0" marL="0">
              <a:buNone/>
            </a:pPr>
            <a:r>
              <a:rPr lang="en-US" sz="1200" dirty="0">
                <a:solidFill>
                  <a:srgbClr val="0F172A"/>
                </a:solidFill>
              </a:rPr>
              <a:t>• Interactive live countdown timer in header
</a:t>
            </a:r>
            <a:pPr indent="0" marL="0">
              <a:buNone/>
            </a:pPr>
            <a:r>
              <a:rPr lang="en-US" sz="1200" dirty="0">
                <a:solidFill>
                  <a:srgbClr val="0F172A"/>
                </a:solidFill>
              </a:rPr>
              <a:t>• Clear 4-option radio buttons (Option A, B, C, D)
</a:t>
            </a:r>
            <a:pPr indent="0" marL="0">
              <a:buNone/>
            </a:pPr>
            <a:r>
              <a:rPr lang="en-US" sz="1200" dirty="0">
                <a:solidFill>
                  <a:srgbClr val="0F172A"/>
                </a:solidFill>
              </a:rPr>
              <a:t>• Answered tracker &amp; auto-submit on time expiry
</a:t>
            </a:r>
            <a:pPr indent="0" marL="0">
              <a:buNone/>
            </a:pPr>
            <a:r>
              <a:rPr lang="en-US" sz="1200" dirty="0">
                <a:solidFill>
                  <a:srgbClr val="0F172A"/>
                </a:solidFill>
              </a:rPr>
              <a:t>• Fast local state rendering for zero UI lag</a:t>
            </a:r>
            <a:endParaRPr lang="en-US" sz="1200" dirty="0"/>
          </a:p>
        </p:txBody>
      </p:sp>
      <p:sp>
        <p:nvSpPr>
          <p:cNvPr id="7" name="Shape 5"/>
          <p:cNvSpPr/>
          <p:nvPr/>
        </p:nvSpPr>
        <p:spPr>
          <a:xfrm>
            <a:off x="4754880" y="1188720"/>
            <a:ext cx="3840480" cy="3474720"/>
          </a:xfrm>
          <a:prstGeom prst="rect">
            <a:avLst/>
          </a:prstGeom>
          <a:solidFill>
            <a:srgbClr val="FFFFFF"/>
          </a:solidFill>
          <a:ln w="12700">
            <a:solidFill>
              <a:srgbClr val="CBD5E1"/>
            </a:solidFill>
            <a:prstDash val="solid"/>
          </a:ln>
        </p:spPr>
      </p:sp>
      <p:sp>
        <p:nvSpPr>
          <p:cNvPr id="8" name="Text 6"/>
          <p:cNvSpPr/>
          <p:nvPr/>
        </p:nvSpPr>
        <p:spPr>
          <a:xfrm>
            <a:off x="4937760" y="1371600"/>
            <a:ext cx="3474720" cy="365760"/>
          </a:xfrm>
          <a:prstGeom prst="rect">
            <a:avLst/>
          </a:prstGeom>
          <a:noFill/>
          <a:ln/>
        </p:spPr>
        <p:txBody>
          <a:bodyPr wrap="square" rtlCol="0" anchor="ctr"/>
          <a:lstStyle/>
          <a:p>
            <a:pPr indent="0" marL="0">
              <a:buNone/>
            </a:pPr>
            <a:r>
              <a:rPr lang="en-US" sz="1500" b="1" dirty="0">
                <a:solidFill>
                  <a:srgbClr val="059669"/>
                </a:solidFill>
                <a:latin typeface="Arial" pitchFamily="34" charset="0"/>
                <a:ea typeface="Arial" pitchFamily="34" charset="-122"/>
                <a:cs typeface="Arial" pitchFamily="34" charset="-120"/>
              </a:rPr>
              <a:t>Instant Evaluation &amp; Retakes</a:t>
            </a:r>
            <a:endParaRPr lang="en-US" sz="1500" dirty="0"/>
          </a:p>
        </p:txBody>
      </p:sp>
      <p:sp>
        <p:nvSpPr>
          <p:cNvPr id="9" name="Text 7"/>
          <p:cNvSpPr/>
          <p:nvPr/>
        </p:nvSpPr>
        <p:spPr>
          <a:xfrm>
            <a:off x="4937760" y="1828800"/>
            <a:ext cx="3474720" cy="2651760"/>
          </a:xfrm>
          <a:prstGeom prst="rect">
            <a:avLst/>
          </a:prstGeom>
          <a:noFill/>
          <a:ln/>
        </p:spPr>
        <p:txBody>
          <a:bodyPr wrap="square" rtlCol="0" anchor="ctr"/>
          <a:lstStyle/>
          <a:p>
            <a:pPr indent="0" marL="0">
              <a:buNone/>
            </a:pPr>
            <a:r>
              <a:rPr lang="en-US" sz="1200" dirty="0">
                <a:solidFill>
                  <a:srgbClr val="0F172A"/>
                </a:solidFill>
              </a:rPr>
              <a:t>• Real-time score calculation &amp; PASSED/FAILED badges
</a:t>
            </a:r>
            <a:pPr indent="0" marL="0">
              <a:buNone/>
            </a:pPr>
            <a:r>
              <a:rPr lang="en-US" sz="1200" dirty="0">
                <a:solidFill>
                  <a:srgbClr val="0F172A"/>
                </a:solidFill>
              </a:rPr>
              <a:t>• Detailed correct/wrong answer breakdown
</a:t>
            </a:r>
            <a:pPr indent="0" marL="0">
              <a:buNone/>
            </a:pPr>
            <a:r>
              <a:rPr lang="en-US" sz="1200" dirty="0">
                <a:solidFill>
                  <a:srgbClr val="0F172A"/>
                </a:solidFill>
              </a:rPr>
              <a:t>• Deterministic retakes load exact locked question array
</a:t>
            </a:r>
            <a:pPr indent="0" marL="0">
              <a:buNone/>
            </a:pPr>
            <a:r>
              <a:rPr lang="en-US" sz="1200" dirty="0">
                <a:solidFill>
                  <a:srgbClr val="0F172A"/>
                </a:solidFill>
              </a:rPr>
              <a:t>• Retake button auto-locks when max attempts are reached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8046720" cy="274320"/>
          </a:xfrm>
          <a:prstGeom prst="rect">
            <a:avLst/>
          </a:prstGeom>
          <a:noFill/>
          <a:ln/>
        </p:spPr>
        <p:txBody>
          <a:bodyPr wrap="square" rtlCol="0" anchor="ctr"/>
          <a:lstStyle/>
          <a:p>
            <a:pPr indent="0" marL="0">
              <a:buNone/>
            </a:pPr>
            <a:r>
              <a:rPr lang="en-US" sz="1000" b="1" dirty="0">
                <a:solidFill>
                  <a:srgbClr val="4F46E5"/>
                </a:solidFill>
                <a:latin typeface="Arial" pitchFamily="34" charset="0"/>
                <a:ea typeface="Arial" pitchFamily="34" charset="-122"/>
                <a:cs typeface="Arial" pitchFamily="34" charset="-120"/>
              </a:rPr>
              <a:t>SLIDE 07 // OVERVIEW</a:t>
            </a:r>
            <a:endParaRPr lang="en-US" sz="1000" dirty="0"/>
          </a:p>
        </p:txBody>
      </p:sp>
      <p:sp>
        <p:nvSpPr>
          <p:cNvPr id="3" name="Text 1"/>
          <p:cNvSpPr/>
          <p:nvPr/>
        </p:nvSpPr>
        <p:spPr>
          <a:xfrm>
            <a:off x="548640" y="640080"/>
            <a:ext cx="804672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Security &amp; Data Privacy</a:t>
            </a:r>
            <a:endParaRPr lang="en-US" sz="2200" dirty="0"/>
          </a:p>
        </p:txBody>
      </p:sp>
      <p:sp>
        <p:nvSpPr>
          <p:cNvPr id="4" name="Shape 2"/>
          <p:cNvSpPr/>
          <p:nvPr/>
        </p:nvSpPr>
        <p:spPr>
          <a:xfrm>
            <a:off x="548640" y="1188720"/>
            <a:ext cx="8046720" cy="1005840"/>
          </a:xfrm>
          <a:prstGeom prst="rect">
            <a:avLst/>
          </a:prstGeom>
          <a:solidFill>
            <a:srgbClr val="FFFFFF"/>
          </a:solidFill>
          <a:ln w="12700">
            <a:solidFill>
              <a:srgbClr val="CBD5E1"/>
            </a:solidFill>
            <a:prstDash val="solid"/>
          </a:ln>
        </p:spPr>
      </p:sp>
      <p:sp>
        <p:nvSpPr>
          <p:cNvPr id="5" name="Text 3"/>
          <p:cNvSpPr/>
          <p:nvPr/>
        </p:nvSpPr>
        <p:spPr>
          <a:xfrm>
            <a:off x="731520" y="1325880"/>
            <a:ext cx="7680960" cy="27432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Student Result Isolation</a:t>
            </a:r>
            <a:endParaRPr lang="en-US" sz="1400" dirty="0"/>
          </a:p>
        </p:txBody>
      </p:sp>
      <p:sp>
        <p:nvSpPr>
          <p:cNvPr id="6" name="Text 4"/>
          <p:cNvSpPr/>
          <p:nvPr/>
        </p:nvSpPr>
        <p:spPr>
          <a:xfrm>
            <a:off x="731520" y="1600200"/>
            <a:ext cx="7680960" cy="4572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Test results are scoped strictly by logged-in user tokens. Student A cannot view Student B's scores.</a:t>
            </a:r>
            <a:endParaRPr lang="en-US" sz="1100" dirty="0"/>
          </a:p>
        </p:txBody>
      </p:sp>
      <p:sp>
        <p:nvSpPr>
          <p:cNvPr id="7" name="Shape 5"/>
          <p:cNvSpPr/>
          <p:nvPr/>
        </p:nvSpPr>
        <p:spPr>
          <a:xfrm>
            <a:off x="548640" y="2331720"/>
            <a:ext cx="8046720" cy="1005840"/>
          </a:xfrm>
          <a:prstGeom prst="rect">
            <a:avLst/>
          </a:prstGeom>
          <a:solidFill>
            <a:srgbClr val="FFFFFF"/>
          </a:solidFill>
          <a:ln w="12700">
            <a:solidFill>
              <a:srgbClr val="CBD5E1"/>
            </a:solidFill>
            <a:prstDash val="solid"/>
          </a:ln>
        </p:spPr>
      </p:sp>
      <p:sp>
        <p:nvSpPr>
          <p:cNvPr id="8" name="Text 6"/>
          <p:cNvSpPr/>
          <p:nvPr/>
        </p:nvSpPr>
        <p:spPr>
          <a:xfrm>
            <a:off x="731520" y="2468880"/>
            <a:ext cx="7680960" cy="27432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Role-Based Access Control</a:t>
            </a:r>
            <a:endParaRPr lang="en-US" sz="1400" dirty="0"/>
          </a:p>
        </p:txBody>
      </p:sp>
      <p:sp>
        <p:nvSpPr>
          <p:cNvPr id="9" name="Text 7"/>
          <p:cNvSpPr/>
          <p:nvPr/>
        </p:nvSpPr>
        <p:spPr>
          <a:xfrm>
            <a:off x="731520" y="2743200"/>
            <a:ext cx="7680960" cy="4572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Spring Security prevents student accounts from accessing teacher quiz builder endpoints or library tools.</a:t>
            </a:r>
            <a:endParaRPr lang="en-US" sz="1100" dirty="0"/>
          </a:p>
        </p:txBody>
      </p:sp>
      <p:sp>
        <p:nvSpPr>
          <p:cNvPr id="10" name="Shape 8"/>
          <p:cNvSpPr/>
          <p:nvPr/>
        </p:nvSpPr>
        <p:spPr>
          <a:xfrm>
            <a:off x="548640" y="3474720"/>
            <a:ext cx="8046720" cy="1005840"/>
          </a:xfrm>
          <a:prstGeom prst="rect">
            <a:avLst/>
          </a:prstGeom>
          <a:solidFill>
            <a:srgbClr val="FFFFFF"/>
          </a:solidFill>
          <a:ln w="12700">
            <a:solidFill>
              <a:srgbClr val="CBD5E1"/>
            </a:solidFill>
            <a:prstDash val="solid"/>
          </a:ln>
        </p:spPr>
      </p:sp>
      <p:sp>
        <p:nvSpPr>
          <p:cNvPr id="11" name="Text 9"/>
          <p:cNvSpPr/>
          <p:nvPr/>
        </p:nvSpPr>
        <p:spPr>
          <a:xfrm>
            <a:off x="731520" y="3611880"/>
            <a:ext cx="7680960" cy="274320"/>
          </a:xfrm>
          <a:prstGeom prst="rect">
            <a:avLst/>
          </a:prstGeom>
          <a:noFill/>
          <a:ln/>
        </p:spPr>
        <p:txBody>
          <a:bodyPr wrap="square" rtlCol="0" anchor="ctr"/>
          <a:lstStyle/>
          <a:p>
            <a:pPr indent="0" marL="0">
              <a:buNone/>
            </a:pPr>
            <a:r>
              <a:rPr lang="en-US" sz="1400" b="1" dirty="0">
                <a:solidFill>
                  <a:srgbClr val="4F46E5"/>
                </a:solidFill>
                <a:latin typeface="Arial" pitchFamily="34" charset="0"/>
                <a:ea typeface="Arial" pitchFamily="34" charset="-122"/>
                <a:cs typeface="Arial" pitchFamily="34" charset="-120"/>
              </a:rPr>
              <a:t>Automatic Quiz Cleansing</a:t>
            </a:r>
            <a:endParaRPr lang="en-US" sz="1400" dirty="0"/>
          </a:p>
        </p:txBody>
      </p:sp>
      <p:sp>
        <p:nvSpPr>
          <p:cNvPr id="12" name="Text 10"/>
          <p:cNvSpPr/>
          <p:nvPr/>
        </p:nvSpPr>
        <p:spPr>
          <a:xfrm>
            <a:off x="731520" y="3886200"/>
            <a:ext cx="7680960" cy="45720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Updating or recreating a quiz automatically wipes stale question locks and resets attempt histories.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8046720" cy="274320"/>
          </a:xfrm>
          <a:prstGeom prst="rect">
            <a:avLst/>
          </a:prstGeom>
          <a:noFill/>
          <a:ln/>
        </p:spPr>
        <p:txBody>
          <a:bodyPr wrap="square" rtlCol="0" anchor="ctr"/>
          <a:lstStyle/>
          <a:p>
            <a:pPr indent="0" marL="0">
              <a:buNone/>
            </a:pPr>
            <a:r>
              <a:rPr lang="en-US" sz="1000" b="1" dirty="0">
                <a:solidFill>
                  <a:srgbClr val="4F46E5"/>
                </a:solidFill>
                <a:latin typeface="Arial" pitchFamily="34" charset="0"/>
                <a:ea typeface="Arial" pitchFamily="34" charset="-122"/>
                <a:cs typeface="Arial" pitchFamily="34" charset="-120"/>
              </a:rPr>
              <a:t>SLIDE 08 // OVERVIEW</a:t>
            </a:r>
            <a:endParaRPr lang="en-US" sz="1000" dirty="0"/>
          </a:p>
        </p:txBody>
      </p:sp>
      <p:sp>
        <p:nvSpPr>
          <p:cNvPr id="3" name="Text 1"/>
          <p:cNvSpPr/>
          <p:nvPr/>
        </p:nvSpPr>
        <p:spPr>
          <a:xfrm>
            <a:off x="548640" y="640080"/>
            <a:ext cx="804672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Conclusion &amp; Q&amp;A</a:t>
            </a:r>
            <a:endParaRPr lang="en-US" sz="2200" dirty="0"/>
          </a:p>
        </p:txBody>
      </p:sp>
      <p:sp>
        <p:nvSpPr>
          <p:cNvPr id="4" name="Shape 2"/>
          <p:cNvSpPr/>
          <p:nvPr/>
        </p:nvSpPr>
        <p:spPr>
          <a:xfrm>
            <a:off x="548640" y="1188720"/>
            <a:ext cx="3840480" cy="3474720"/>
          </a:xfrm>
          <a:prstGeom prst="rect">
            <a:avLst/>
          </a:prstGeom>
          <a:solidFill>
            <a:srgbClr val="FFFFFF"/>
          </a:solidFill>
          <a:ln w="19050">
            <a:solidFill>
              <a:srgbClr val="059669"/>
            </a:solidFill>
            <a:prstDash val="solid"/>
          </a:ln>
        </p:spPr>
      </p:sp>
      <p:sp>
        <p:nvSpPr>
          <p:cNvPr id="5" name="Text 3"/>
          <p:cNvSpPr/>
          <p:nvPr/>
        </p:nvSpPr>
        <p:spPr>
          <a:xfrm>
            <a:off x="731520" y="1371600"/>
            <a:ext cx="3474720" cy="365760"/>
          </a:xfrm>
          <a:prstGeom prst="rect">
            <a:avLst/>
          </a:prstGeom>
          <a:noFill/>
          <a:ln/>
        </p:spPr>
        <p:txBody>
          <a:bodyPr wrap="square" rtlCol="0" anchor="ctr"/>
          <a:lstStyle/>
          <a:p>
            <a:pPr indent="0" marL="0">
              <a:buNone/>
            </a:pPr>
            <a:r>
              <a:rPr lang="en-US" sz="1500" b="1" dirty="0">
                <a:solidFill>
                  <a:srgbClr val="059669"/>
                </a:solidFill>
                <a:latin typeface="Arial" pitchFamily="34" charset="0"/>
                <a:ea typeface="Arial" pitchFamily="34" charset="-122"/>
                <a:cs typeface="Arial" pitchFamily="34" charset="-120"/>
              </a:rPr>
              <a:t>Key Project Takeaways</a:t>
            </a:r>
            <a:endParaRPr lang="en-US" sz="1500" dirty="0"/>
          </a:p>
        </p:txBody>
      </p:sp>
      <p:sp>
        <p:nvSpPr>
          <p:cNvPr id="6" name="Text 4"/>
          <p:cNvSpPr/>
          <p:nvPr/>
        </p:nvSpPr>
        <p:spPr>
          <a:xfrm>
            <a:off x="731520" y="1828800"/>
            <a:ext cx="3474720" cy="2651760"/>
          </a:xfrm>
          <a:prstGeom prst="rect">
            <a:avLst/>
          </a:prstGeom>
          <a:noFill/>
          <a:ln/>
        </p:spPr>
        <p:txBody>
          <a:bodyPr wrap="square" rtlCol="0" anchor="ctr"/>
          <a:lstStyle/>
          <a:p>
            <a:pPr indent="0" marL="0">
              <a:buNone/>
            </a:pPr>
            <a:r>
              <a:rPr lang="en-US" sz="1200" dirty="0">
                <a:solidFill>
                  <a:srgbClr val="0F172A"/>
                </a:solidFill>
              </a:rPr>
              <a:t>• Decoupled Java Spring Boot microservices architecture
</a:t>
            </a:r>
            <a:pPr indent="0" marL="0">
              <a:buNone/>
            </a:pPr>
            <a:r>
              <a:rPr lang="en-US" sz="1200" dirty="0">
                <a:solidFill>
                  <a:srgbClr val="0F172A"/>
                </a:solidFill>
              </a:rPr>
              <a:t>• Automated question selection engine (Fisher-Yates)
</a:t>
            </a:r>
            <a:pPr indent="0" marL="0">
              <a:buNone/>
            </a:pPr>
            <a:r>
              <a:rPr lang="en-US" sz="1200" dirty="0">
                <a:solidFill>
                  <a:srgbClr val="0F172A"/>
                </a:solidFill>
              </a:rPr>
              <a:t>• Instant exam evaluation with pass/fail visual badges
</a:t>
            </a:r>
            <a:pPr indent="0" marL="0">
              <a:buNone/>
            </a:pPr>
            <a:r>
              <a:rPr lang="en-US" sz="1200" dirty="0">
                <a:solidFill>
                  <a:srgbClr val="0F172A"/>
                </a:solidFill>
              </a:rPr>
              <a:t>• Strict data privacy, attempt controls &amp; clean user experience</a:t>
            </a:r>
            <a:endParaRPr lang="en-US" sz="1200" dirty="0"/>
          </a:p>
        </p:txBody>
      </p:sp>
      <p:sp>
        <p:nvSpPr>
          <p:cNvPr id="7" name="Shape 5"/>
          <p:cNvSpPr/>
          <p:nvPr/>
        </p:nvSpPr>
        <p:spPr>
          <a:xfrm>
            <a:off x="4754880" y="1188720"/>
            <a:ext cx="3840480" cy="3474720"/>
          </a:xfrm>
          <a:prstGeom prst="rect">
            <a:avLst/>
          </a:prstGeom>
          <a:solidFill>
            <a:srgbClr val="EEF2FF"/>
          </a:solidFill>
          <a:ln w="19050">
            <a:solidFill>
              <a:srgbClr val="4F46E5"/>
            </a:solidFill>
            <a:prstDash val="solid"/>
          </a:ln>
        </p:spPr>
      </p:sp>
      <p:sp>
        <p:nvSpPr>
          <p:cNvPr id="8" name="Text 6"/>
          <p:cNvSpPr/>
          <p:nvPr/>
        </p:nvSpPr>
        <p:spPr>
          <a:xfrm>
            <a:off x="4754880" y="2377440"/>
            <a:ext cx="3840480" cy="914400"/>
          </a:xfrm>
          <a:prstGeom prst="rect">
            <a:avLst/>
          </a:prstGeom>
          <a:noFill/>
          <a:ln/>
        </p:spPr>
        <p:txBody>
          <a:bodyPr wrap="square" rtlCol="0" anchor="ctr"/>
          <a:lstStyle/>
          <a:p>
            <a:pPr algn="ctr" indent="0" marL="0">
              <a:buNone/>
            </a:pPr>
            <a:r>
              <a:rPr lang="en-US" sz="3600" b="1" dirty="0">
                <a:solidFill>
                  <a:srgbClr val="4F46E5"/>
                </a:solidFill>
                <a:latin typeface="Arial" pitchFamily="34" charset="0"/>
                <a:ea typeface="Arial" pitchFamily="34" charset="-122"/>
                <a:cs typeface="Arial" pitchFamily="34" charset="-120"/>
              </a:rPr>
              <a:t>Thank You!</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2026-08-09T10:25:49Z</dcterms:created>
  <dcterms:modified xsi:type="dcterms:W3CDTF">2026-08-09T10:25:49Z</dcterms:modified>
</cp:coreProperties>
</file>